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0a1ef7d-74b3-9d83-5ad8-dd3e8a24be62}">
          <p14:sldIdLst>
            <p14:sldId id="256"/>
            <p14:sldId id="257"/>
          </p14:sldIdLst>
        </p14:section>
        <p14:section name="Começar" id="{933e3b3b-c4f2-f931-81c2-a882ef823537}">
          <p14:sldIdLst>
            <p14:sldId id="258"/>
            <p14:sldId id="259"/>
          </p14:sldIdLst>
        </p14:section>
        <p14:section name="Os teus trilhos" id="{7c8c37ce-e4ca-e799-eb4f-7e46ac0404c8}">
          <p14:sldIdLst>
            <p14:sldId id="260"/>
            <p14:sldId id="261"/>
          </p14:sldIdLst>
        </p14:section>
        <p14:section name="Trabalhar e fechar" id="{26d14dd7-079c-d0be-dd2d-e008ce17b13c}">
          <p14:sldIdLst>
            <p14:sldId id="262"/>
            <p14:sldId id="263"/>
            <p14:sldId id="264"/>
            <p14:sldId id="265"/>
          </p14:sldIdLst>
        </p14:section>
        <p14:section name="Acompanhar" id="{9a1ab718-8df6-06dc-37c4-544323e582b6}">
          <p14:sldIdLst>
            <p14:sldId id="266"/>
            <p14:sldId id="267"/>
            <p14:sldId id="268"/>
          </p14:sldIdLst>
        </p14:section>
        <p14:section name="Mais" id="{30d2e475-a1ec-4920-512c-369caa6955d5}">
          <p14:sldIdLst>
            <p14:sldId id="269"/>
            <p14:sldId id="270"/>
            <p14:sldId id="271"/>
          </p14:sldIdLst>
        </p14:section>
        <p14:section name="Fecho" id="{86708c74-dac7-9dcd-b53e-6b378a9d24c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vamos ver a app que vamos usar para acompanhar o nosso progresso na III Secção. Tudo o que aparece nas imagens são dados de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app não substitui as reuniões: é um caderno comum entre ti, o teu guia e a Equipa de Animação.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QR code ou o link do convite. Quem não tiver email pessoal pode pedir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duas coisas diferentes: primeiro combinamos em que trilhos vais trabalhar nesta etapa; quando achares que já atingiste os objetivos, pedes para fechar.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app ao vivo e fazer juntos: entrar, abrir uma área, abrir um trilho, propor trabalhar nele.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nossa app de progresso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E"/>
                </a:solidFill>
              </a:rPr>
              <a:t>Os teus trilhos, as tuas etapas e os teus pedidos — tudo no telemóvel</a:t>
            </a:r>
            <a:endParaRPr lang="en-US" sz="2000" dirty="0"/>
          </a:p>
        </p:txBody>
      </p:sp>
      <p:pic>
        <p:nvPicPr>
          <p:cNvPr id="4" name="rosa dos vento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sistema-progresso.vercel.app</a:t>
            </a:r>
            <a:endParaRPr lang="en-US" sz="1600" dirty="0"/>
          </a:p>
        </p:txBody>
      </p:sp>
      <p:sp>
        <p:nvSpPr>
          <p:cNvPr id="6" name="moldura Início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captura Início" descr="Captura do ecrã: Iníc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Para que serve</a:t>
            </a:r>
            <a:endParaRPr lang="en-US" sz="3200" dirty="0"/>
          </a:p>
        </p:txBody>
      </p:sp>
      <p:sp>
        <p:nvSpPr>
          <p:cNvPr id="3" name="círculo Ver o teu progresso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Ver o teu progress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Ver o teu progresso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As seis áreas FACEIS, os trilhos e a etapa em que estás.</a:t>
            </a:r>
            <a:endParaRPr lang="en-US" sz="1700" dirty="0"/>
          </a:p>
        </p:txBody>
      </p:sp>
      <p:sp>
        <p:nvSpPr>
          <p:cNvPr id="6" name="círculo Dizer em que trilho queres trabalhar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Dizer em que trilho queres trabalh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96312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Dizer em que trilho queres trabalhar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Propões à Equipa de Animação e combinam contigo.</a:t>
            </a:r>
            <a:endParaRPr lang="en-US" sz="1700" dirty="0"/>
          </a:p>
        </p:txBody>
      </p:sp>
      <p:sp>
        <p:nvSpPr>
          <p:cNvPr id="9" name="círculo Pedir para fechar um trilho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Pedir para fechar um trilh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20440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Pedir para fechar um trilho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Explicas como atingiste os objetivos; a reunião de Equipa decide.</a:t>
            </a:r>
            <a:endParaRPr lang="en-US" sz="1700" dirty="0"/>
          </a:p>
        </p:txBody>
      </p:sp>
      <p:sp>
        <p:nvSpPr>
          <p:cNvPr id="12" name="círculo Saber o que mudou"/>
          <p:cNvSpPr/>
          <p:nvPr/>
        </p:nvSpPr>
        <p:spPr>
          <a:xfrm>
            <a:off x="548640" y="4581144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3" name="ícone Saber o que mudou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544568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Saber o que mudou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Notificações quando há respostas, decisões ou algo a rever.</a:t>
            </a:r>
            <a:endParaRPr lang="en-US" sz="1700" dirty="0"/>
          </a:p>
        </p:txBody>
      </p:sp>
      <p:sp>
        <p:nvSpPr>
          <p:cNvPr id="15" name="cartão áreas"/>
          <p:cNvSpPr/>
          <p:nvPr/>
        </p:nvSpPr>
        <p:spPr>
          <a:xfrm>
            <a:off x="8138160" y="1508760"/>
            <a:ext cx="3474720" cy="4023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138160" y="1783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6</a:t>
            </a:r>
            <a:endParaRPr lang="en-US" sz="7200" dirty="0"/>
          </a:p>
        </p:txBody>
      </p:sp>
      <p:sp>
        <p:nvSpPr>
          <p:cNvPr id="17" name="Text 11"/>
          <p:cNvSpPr txBox="1"/>
          <p:nvPr/>
        </p:nvSpPr>
        <p:spPr>
          <a:xfrm>
            <a:off x="81381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áreas FACEIS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13816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06A"/>
                </a:solidFill>
              </a:rPr>
              <a:t>18 trilhos · 38 objetivos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4114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Físico · Afetivo · Caráter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Espiritual · Intelectual · Social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Entrar na app</a:t>
            </a:r>
            <a:endParaRPr lang="en-US" sz="3200" dirty="0"/>
          </a:p>
        </p:txBody>
      </p:sp>
      <p:sp>
        <p:nvSpPr>
          <p:cNvPr id="3" name="círculo 1. Recebes um convite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1. Recebes um convi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5257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Recebes um convite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Um link ou um código como AB7K-9M2P, dado pela Equipa de Animação.</a:t>
            </a:r>
            <a:endParaRPr lang="en-US" sz="1700" dirty="0"/>
          </a:p>
        </p:txBody>
      </p:sp>
      <p:sp>
        <p:nvSpPr>
          <p:cNvPr id="6" name="círculo 2. Crias a tua conta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2. Crias a tua cont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96312"/>
            <a:ext cx="5257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Crias a tua conta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Email e palavra-passe. Confirmas o email.</a:t>
            </a:r>
            <a:endParaRPr lang="en-US" sz="1700" dirty="0"/>
          </a:p>
        </p:txBody>
      </p:sp>
      <p:sp>
        <p:nvSpPr>
          <p:cNvPr id="9" name="círculo 3. Escolhes a tua equipa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3. Escolhes a tua equip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20440"/>
            <a:ext cx="5257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Escolhes a tua equipa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Os dirigentes confirmam a tua entrada.</a:t>
            </a:r>
            <a:endParaRPr lang="en-US" sz="1700" dirty="0"/>
          </a:p>
        </p:txBody>
      </p:sp>
      <p:sp>
        <p:nvSpPr>
          <p:cNvPr id="12" name="círculo 4. Instalas no telemóvel"/>
          <p:cNvSpPr/>
          <p:nvPr/>
        </p:nvSpPr>
        <p:spPr>
          <a:xfrm>
            <a:off x="548640" y="4581144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3" name="ícone 4. Instalas no telemóve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544568"/>
            <a:ext cx="5257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Instalas no telemóvel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iPhone: Partilhar › Adicionar ao ecrã principal. Android: Instalar app.</a:t>
            </a:r>
            <a:endParaRPr lang="en-US" sz="1700" dirty="0"/>
          </a:p>
        </p:txBody>
      </p:sp>
      <p:sp>
        <p:nvSpPr>
          <p:cNvPr id="15" name="moldura Convite"/>
          <p:cNvSpPr/>
          <p:nvPr/>
        </p:nvSpPr>
        <p:spPr>
          <a:xfrm>
            <a:off x="7187184" y="1197864"/>
            <a:ext cx="2319499" cy="4828032"/>
          </a:xfrm>
          <a:prstGeom prst="roundRect">
            <a:avLst>
              <a:gd name="adj" fmla="val 86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captura Convite" descr="Captura do ecrã: Convi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280160"/>
            <a:ext cx="2154907" cy="4663440"/>
          </a:xfrm>
          <a:prstGeom prst="rect">
            <a:avLst/>
          </a:prstGeom>
        </p:spPr>
      </p:pic>
      <p:sp>
        <p:nvSpPr>
          <p:cNvPr id="17" name="moldura Entrar"/>
          <p:cNvSpPr/>
          <p:nvPr/>
        </p:nvSpPr>
        <p:spPr>
          <a:xfrm>
            <a:off x="9610344" y="1197864"/>
            <a:ext cx="2319499" cy="4828032"/>
          </a:xfrm>
          <a:prstGeom prst="roundRect">
            <a:avLst>
              <a:gd name="adj" fmla="val 86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captura Entrar" descr="Captura do ecrã: Entr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1280160"/>
            <a:ext cx="2154907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ecrã de Início</a:t>
            </a:r>
            <a:endParaRPr lang="en-US" sz="3200" dirty="0"/>
          </a:p>
        </p:txBody>
      </p:sp>
      <p:sp>
        <p:nvSpPr>
          <p:cNvPr id="3" name="círculo A tua etapa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A tua etap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tua etapa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Em que etapa estás (Conhecimento, Vontade, Construção).</a:t>
            </a:r>
            <a:endParaRPr lang="en-US" sz="1700" dirty="0"/>
          </a:p>
        </p:txBody>
      </p:sp>
      <p:sp>
        <p:nvSpPr>
          <p:cNvPr id="6" name="círculo Pedidos em validação e a rever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Pedidos em validação e a re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96312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Pedidos em validação e a rever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Quantos pedidos esperam decisão e quantos tens de corrigir.</a:t>
            </a:r>
            <a:endParaRPr lang="en-US" sz="1700" dirty="0"/>
          </a:p>
        </p:txBody>
      </p:sp>
      <p:sp>
        <p:nvSpPr>
          <p:cNvPr id="9" name="círculo Próximo passo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Próximo pass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20440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Próximo passo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A app diz-te o que fazer a seguir, com um botão direto.</a:t>
            </a:r>
            <a:endParaRPr lang="en-US" sz="1700" dirty="0"/>
          </a:p>
        </p:txBody>
      </p:sp>
      <p:sp>
        <p:nvSpPr>
          <p:cNvPr id="12" name="círculo Feedback recebido"/>
          <p:cNvSpPr/>
          <p:nvPr/>
        </p:nvSpPr>
        <p:spPr>
          <a:xfrm>
            <a:off x="548640" y="4581144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3" name="ícone Feedback recebi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544568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Feedback recebido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Os últimos comentários dos guias e dirigentes.</a:t>
            </a:r>
            <a:endParaRPr lang="en-US" sz="1700" dirty="0"/>
          </a:p>
        </p:txBody>
      </p:sp>
      <p:sp>
        <p:nvSpPr>
          <p:cNvPr id="15" name="moldura Início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captura Início" descr="Captura do ecrã: Iníc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Meu progresso: as seis áreas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A"/>
                </a:solidFill>
              </a:rPr>
              <a:t>Cada cartão é uma área FACEIS. As três barrinhas são os três trilhos da área: preenchida = trilho validado.</a:t>
            </a:r>
            <a:endParaRPr lang="en-US" sz="1600" dirty="0"/>
          </a:p>
        </p:txBody>
      </p:sp>
      <p:sp>
        <p:nvSpPr>
          <p:cNvPr id="4" name="área Físico"/>
          <p:cNvSpPr/>
          <p:nvPr/>
        </p:nvSpPr>
        <p:spPr>
          <a:xfrm>
            <a:off x="548640" y="242316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Físico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06A"/>
                </a:solidFill>
              </a:rPr>
              <a:t>o corpo</a:t>
            </a:r>
            <a:endParaRPr lang="en-US" sz="1800" dirty="0"/>
          </a:p>
        </p:txBody>
      </p:sp>
      <p:sp>
        <p:nvSpPr>
          <p:cNvPr id="6" name="área Afetivo"/>
          <p:cNvSpPr/>
          <p:nvPr/>
        </p:nvSpPr>
        <p:spPr>
          <a:xfrm>
            <a:off x="2926080" y="242316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24231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E185D"/>
                </a:solidFill>
              </a:rPr>
              <a:t>Afetivo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06A"/>
                </a:solidFill>
              </a:rPr>
              <a:t>os sentimentos</a:t>
            </a:r>
            <a:endParaRPr lang="en-US" sz="1800" dirty="0"/>
          </a:p>
        </p:txBody>
      </p:sp>
      <p:sp>
        <p:nvSpPr>
          <p:cNvPr id="8" name="área Caráter"/>
          <p:cNvSpPr/>
          <p:nvPr/>
        </p:nvSpPr>
        <p:spPr>
          <a:xfrm>
            <a:off x="5303520" y="242316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4231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FA3"/>
                </a:solidFill>
              </a:rPr>
              <a:t>Caráter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06A"/>
                </a:solidFill>
              </a:rPr>
              <a:t>a atitude</a:t>
            </a:r>
            <a:endParaRPr lang="en-US" sz="1800" dirty="0"/>
          </a:p>
        </p:txBody>
      </p:sp>
      <p:sp>
        <p:nvSpPr>
          <p:cNvPr id="10" name="área Espiritual"/>
          <p:cNvSpPr/>
          <p:nvPr/>
        </p:nvSpPr>
        <p:spPr>
          <a:xfrm>
            <a:off x="548640" y="384048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</a:rPr>
              <a:t>Espiritual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06A"/>
                </a:solidFill>
              </a:rPr>
              <a:t>a fé</a:t>
            </a:r>
            <a:endParaRPr lang="en-US" sz="1800" dirty="0"/>
          </a:p>
        </p:txBody>
      </p:sp>
      <p:sp>
        <p:nvSpPr>
          <p:cNvPr id="12" name="área Intelectual"/>
          <p:cNvSpPr/>
          <p:nvPr/>
        </p:nvSpPr>
        <p:spPr>
          <a:xfrm>
            <a:off x="2926080" y="384048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3840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Intelectual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06A"/>
                </a:solidFill>
              </a:rPr>
              <a:t>a mente</a:t>
            </a:r>
            <a:endParaRPr lang="en-US" sz="1800" dirty="0"/>
          </a:p>
        </p:txBody>
      </p:sp>
      <p:sp>
        <p:nvSpPr>
          <p:cNvPr id="14" name="área Social"/>
          <p:cNvSpPr/>
          <p:nvPr/>
        </p:nvSpPr>
        <p:spPr>
          <a:xfrm>
            <a:off x="5303520" y="384048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3840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Social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506A"/>
                </a:solidFill>
              </a:rPr>
              <a:t>os outros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 baixo: Os meus pedidos · Progresso validado · Ver o meu percurso</a:t>
            </a:r>
            <a:endParaRPr lang="en-US" sz="1400" dirty="0"/>
          </a:p>
        </p:txBody>
      </p:sp>
      <p:sp>
        <p:nvSpPr>
          <p:cNvPr id="17" name="moldura Áreas FACEIS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captura Áreas FACEIS" descr="Captura do ecrã: Áreas FACE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Abrir uma área e escolher o trilho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A"/>
                </a:solidFill>
              </a:rPr>
              <a:t>Vês os três trilhos da área, os códigos dos objetivos (F1, F2…) e o estado de cada um:</a:t>
            </a:r>
            <a:endParaRPr lang="en-US" sz="1600" dirty="0"/>
          </a:p>
        </p:txBody>
      </p:sp>
      <p:sp>
        <p:nvSpPr>
          <p:cNvPr id="4" name="estado Por fechar"/>
          <p:cNvSpPr/>
          <p:nvPr/>
        </p:nvSpPr>
        <p:spPr>
          <a:xfrm>
            <a:off x="548640" y="23317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506A"/>
                </a:solidFill>
              </a:rPr>
              <a:t>Por fechar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Ainda não pediste a validação.</a:t>
            </a:r>
            <a:endParaRPr lang="en-US" sz="1500" dirty="0"/>
          </a:p>
        </p:txBody>
      </p:sp>
      <p:sp>
        <p:nvSpPr>
          <p:cNvPr id="7" name="estado Em validação"/>
          <p:cNvSpPr/>
          <p:nvPr/>
        </p:nvSpPr>
        <p:spPr>
          <a:xfrm>
            <a:off x="548640" y="31089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FA3"/>
                </a:solidFill>
              </a:rPr>
              <a:t>Em validação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108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Pediste; espera a reunião de Equipa.</a:t>
            </a:r>
            <a:endParaRPr lang="en-US" sz="1500" dirty="0"/>
          </a:p>
        </p:txBody>
      </p:sp>
      <p:sp>
        <p:nvSpPr>
          <p:cNvPr id="10" name="estado A rever"/>
          <p:cNvSpPr/>
          <p:nvPr/>
        </p:nvSpPr>
        <p:spPr>
          <a:xfrm>
            <a:off x="548640" y="3886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A rever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886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Tens de corrigir e voltar a enviar.</a:t>
            </a:r>
            <a:endParaRPr lang="en-US" sz="1500" dirty="0"/>
          </a:p>
        </p:txBody>
      </p:sp>
      <p:sp>
        <p:nvSpPr>
          <p:cNvPr id="13" name="estado Validado"/>
          <p:cNvSpPr/>
          <p:nvPr/>
        </p:nvSpPr>
        <p:spPr>
          <a:xfrm>
            <a:off x="548640" y="4663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DF5E6"/>
          </a:solidFill>
          <a:ln w="12700">
            <a:solidFill>
              <a:srgbClr val="DDF5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63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B3A"/>
                </a:solidFill>
              </a:rPr>
              <a:t>Validado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4663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Trilho fechado!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Toca no trilho para o abrir.</a:t>
            </a:r>
            <a:endParaRPr lang="en-US" sz="1500" dirty="0"/>
          </a:p>
        </p:txBody>
      </p:sp>
      <p:sp>
        <p:nvSpPr>
          <p:cNvPr id="17" name="moldura Trilhos da área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captura Trilhos da área" descr="Captura do ecrã: Trilhos da ár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Trabalhar ou fechar?</a:t>
            </a:r>
            <a:endParaRPr lang="en-US" sz="3200" dirty="0"/>
          </a:p>
        </p:txBody>
      </p:sp>
      <p:sp>
        <p:nvSpPr>
          <p:cNvPr id="3" name="cartão Trabalhar neste trilho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" name="círculo Trabalhar neste trilho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5" name="ícone Trabalhar neste trilh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Trabalhar neste trilho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A3550"/>
                </a:solidFill>
              </a:rPr>
              <a:t>Queres trabalhar este trilho na tua etapa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A3550"/>
                </a:solidFill>
              </a:rPr>
              <a:t>Propões à Equipa de Animação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A3550"/>
                </a:solidFill>
              </a:rPr>
              <a:t>Os dirigentes combinam contigo</a:t>
            </a:r>
            <a:endParaRPr lang="en-US" sz="1500" dirty="0"/>
          </a:p>
        </p:txBody>
      </p:sp>
      <p:sp>
        <p:nvSpPr>
          <p:cNvPr id="8" name="cartão Fechar este trilho"/>
          <p:cNvSpPr/>
          <p:nvPr/>
        </p:nvSpPr>
        <p:spPr>
          <a:xfrm>
            <a:off x="4206240" y="1463040"/>
            <a:ext cx="3429000" cy="43434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9" name="círculo Fechar este trilho"/>
          <p:cNvSpPr/>
          <p:nvPr/>
        </p:nvSpPr>
        <p:spPr>
          <a:xfrm>
            <a:off x="4480560" y="1737360"/>
            <a:ext cx="731520" cy="7315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0" name="ícone Fechar este trilh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Fechar este trilho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A3550"/>
                </a:solidFill>
              </a:rPr>
              <a:t>Já atingiste os objetivos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A3550"/>
                </a:solidFill>
              </a:rPr>
              <a:t>Explicas como os demonstraste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A3550"/>
                </a:solidFill>
              </a:rPr>
              <a:t>A reunião de Equipa decide</a:t>
            </a:r>
            <a:endParaRPr lang="en-US" sz="1500" dirty="0"/>
          </a:p>
        </p:txBody>
      </p:sp>
      <p:sp>
        <p:nvSpPr>
          <p:cNvPr id="13" name="moldura Trabalhar ou fechar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captura Trabalhar ou fechar" descr="Captura do ecrã: Trabalhar ou fech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Trabalhar num trilho</a:t>
            </a:r>
            <a:endParaRPr lang="en-US" sz="3200" dirty="0"/>
          </a:p>
        </p:txBody>
      </p:sp>
      <p:sp>
        <p:nvSpPr>
          <p:cNvPr id="3" name="círculo 1. Escolhe «Trabalhar neste trilho»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1. Escolhe «Trabalhar neste trilho»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Escolhe «Trabalhar neste trilho»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No topo da página do trilho.</a:t>
            </a:r>
            <a:endParaRPr lang="en-US" sz="1700" dirty="0"/>
          </a:p>
        </p:txBody>
      </p:sp>
      <p:sp>
        <p:nvSpPr>
          <p:cNvPr id="6" name="círculo 2. Conta como o pensas trabalhar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2. Conta como o pensas trabalh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96312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Conta como o pensas trabalhar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Opcional: atividades ou oportunidades que queres viver.</a:t>
            </a:r>
            <a:endParaRPr lang="en-US" sz="1700" dirty="0"/>
          </a:p>
        </p:txBody>
      </p:sp>
      <p:sp>
        <p:nvSpPr>
          <p:cNvPr id="9" name="círculo 3. Carrega em «Propor trabalhar neste trilho»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3. Carrega em «Propor trabalhar neste trilho»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20440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Carrega em «Propor trabalhar neste trilho»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Os dirigentes recebem logo a tua proposta.</a:t>
            </a:r>
            <a:endParaRPr lang="en-US" sz="1700" dirty="0"/>
          </a:p>
        </p:txBody>
      </p:sp>
      <p:sp>
        <p:nvSpPr>
          <p:cNvPr id="12" name="círculo 4. A Equipa de Animação responde"/>
          <p:cNvSpPr/>
          <p:nvPr/>
        </p:nvSpPr>
        <p:spPr>
          <a:xfrm>
            <a:off x="548640" y="4581144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3" name="ícone 4. A Equipa de Animação respond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544568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A Equipa de Animação responde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Fica «Combinado para a etapa». Podes retirar enquanto espera.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669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A"/>
                </a:solidFill>
              </a:rPr>
              <a:t>Um trilho por área em cada etapa.</a:t>
            </a:r>
            <a:endParaRPr lang="en-US" sz="1400" dirty="0"/>
          </a:p>
        </p:txBody>
      </p:sp>
      <p:sp>
        <p:nvSpPr>
          <p:cNvPr id="16" name="moldura Trabalhar neste trilho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captura Trabalhar neste trilho" descr="Captura do ecrã: Trabalhar neste trilh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Fechar um trilho</a:t>
            </a:r>
            <a:endParaRPr lang="en-US" sz="3200" dirty="0"/>
          </a:p>
        </p:txBody>
      </p:sp>
      <p:sp>
        <p:nvSpPr>
          <p:cNvPr id="3" name="círculo 1. Escolhe «Fechar este trilho»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1. Escolhe «Fechar este trilho»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Escolhe «Fechar este trilho»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Vês todos os objetivos do trilho.</a:t>
            </a:r>
            <a:endParaRPr lang="en-US" sz="1700" dirty="0"/>
          </a:p>
        </p:txBody>
      </p:sp>
      <p:sp>
        <p:nvSpPr>
          <p:cNvPr id="6" name="círculo 2. Escreve como os atingiste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2. Escreve como os atingist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96312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Escreve como os atingiste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 que fizeste, em que situação e o que aprendeste.</a:t>
            </a:r>
            <a:endParaRPr lang="en-US" sz="1700" dirty="0"/>
          </a:p>
        </p:txBody>
      </p:sp>
      <p:sp>
        <p:nvSpPr>
          <p:cNvPr id="9" name="círculo 3. Junta fotografias (opcional)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3. Junta fotografias (opcional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20440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Junta fotografias (opcional)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Imagens ou PDF que ajudem a mostrar.</a:t>
            </a:r>
            <a:endParaRPr lang="en-US" sz="1700" dirty="0"/>
          </a:p>
        </p:txBody>
      </p:sp>
      <p:sp>
        <p:nvSpPr>
          <p:cNvPr id="12" name="círculo 4. Carrega em «Pedir validação do trilho»"/>
          <p:cNvSpPr/>
          <p:nvPr/>
        </p:nvSpPr>
        <p:spPr>
          <a:xfrm>
            <a:off x="548640" y="4581144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3" name="ícone 4. Carrega em «Pedir validação do trilho»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544568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Carrega em «Pedir validação do trilho»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Fica «Em validação» até à reunião de Equipa.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669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A"/>
                </a:solidFill>
              </a:rPr>
              <a:t>Enviar não fecha o trilho: só a decisão da reunião de Equipa o valida.</a:t>
            </a:r>
            <a:endParaRPr lang="en-US" sz="1400" dirty="0"/>
          </a:p>
        </p:txBody>
      </p:sp>
      <p:sp>
        <p:nvSpPr>
          <p:cNvPr id="16" name="moldura Fechar este trilho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captura Fechar este trilho" descr="Captura do ecrã: Fechar este trilh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Quando um pedido fica «A rever»</a:t>
            </a:r>
            <a:endParaRPr lang="en-US" sz="3200" dirty="0"/>
          </a:p>
        </p:txBody>
      </p:sp>
      <p:sp>
        <p:nvSpPr>
          <p:cNvPr id="3" name="círculo Lê o comentário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Lê o comentári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Lê o comentário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 guia ou o dirigente explica o que falta e que objetivos mostrar melhor.</a:t>
            </a:r>
            <a:endParaRPr lang="en-US" sz="1700" dirty="0"/>
          </a:p>
        </p:txBody>
      </p:sp>
      <p:sp>
        <p:nvSpPr>
          <p:cNvPr id="6" name="círculo Corrige a justificação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Corrige a justificaçã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66090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Corrige a justificação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 teu texto anterior já lá está: só tens de completar.</a:t>
            </a:r>
            <a:endParaRPr lang="en-US" sz="1700" dirty="0"/>
          </a:p>
        </p:txBody>
      </p:sp>
      <p:sp>
        <p:nvSpPr>
          <p:cNvPr id="9" name="círculo Volta a pedir a validação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Volta a pedir a validaçã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84962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Volta a pedir a validação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 histórico fica guardado; nada se perde.</a:t>
            </a:r>
            <a:endParaRPr lang="en-US" sz="1700" dirty="0"/>
          </a:p>
        </p:txBody>
      </p:sp>
      <p:sp>
        <p:nvSpPr>
          <p:cNvPr id="12" name="estado A rever"/>
          <p:cNvSpPr/>
          <p:nvPr/>
        </p:nvSpPr>
        <p:spPr>
          <a:xfrm>
            <a:off x="548640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A rever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514600" y="5212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não é um «chumbo» — é um «quase»!</a:t>
            </a:r>
            <a:endParaRPr lang="en-US" sz="1600" dirty="0"/>
          </a:p>
        </p:txBody>
      </p:sp>
      <p:sp>
        <p:nvSpPr>
          <p:cNvPr id="15" name="moldura Pedido a rever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captura Pedido a rever" descr="Captura do ecrã: Pedido a re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 e progresso validado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Os meus pedidos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44506A"/>
                </a:solidFill>
              </a:rPr>
              <a:t>Todos os pedidos com trilho, data, estado e a resposta recebida. Filtra por Em validação, A rever ou Validados.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Progresso validado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44506A"/>
                </a:solidFill>
              </a:rPr>
              <a:t>Os trilhos que já fechaste, por área, com a data da decisão.</a:t>
            </a:r>
            <a:endParaRPr lang="en-US" sz="1800" dirty="0"/>
          </a:p>
        </p:txBody>
      </p:sp>
      <p:sp>
        <p:nvSpPr>
          <p:cNvPr id="4" name="moldura Os meus pedidos"/>
          <p:cNvSpPr/>
          <p:nvPr/>
        </p:nvSpPr>
        <p:spPr>
          <a:xfrm>
            <a:off x="6592824" y="1335024"/>
            <a:ext cx="2590866" cy="5102352"/>
          </a:xfrm>
          <a:prstGeom prst="roundRect">
            <a:avLst>
              <a:gd name="adj" fmla="val 776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captura Os meus pedidos" descr="Captura do ecrã: Os meus ped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2426274" cy="4937760"/>
          </a:xfrm>
          <a:prstGeom prst="rect">
            <a:avLst/>
          </a:prstGeom>
        </p:spPr>
      </p:pic>
      <p:sp>
        <p:nvSpPr>
          <p:cNvPr id="6" name="moldura Progresso validado"/>
          <p:cNvSpPr/>
          <p:nvPr/>
        </p:nvSpPr>
        <p:spPr>
          <a:xfrm>
            <a:off x="9290304" y="1335024"/>
            <a:ext cx="2590866" cy="5102352"/>
          </a:xfrm>
          <a:prstGeom prst="roundRect">
            <a:avLst>
              <a:gd name="adj" fmla="val 776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captura Progresso validado" descr="Captura do ecrã: Progresso valid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417320"/>
            <a:ext cx="2426274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meu percurso</a:t>
            </a:r>
            <a:endParaRPr lang="en-US" sz="3200" dirty="0"/>
          </a:p>
        </p:txBody>
      </p:sp>
      <p:sp>
        <p:nvSpPr>
          <p:cNvPr id="3" name="círculo Etapa atual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Etapa atu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Etapa atual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Quantas áreas já têm trilho validado nesta etapa.</a:t>
            </a:r>
            <a:endParaRPr lang="en-US" sz="1700" dirty="0"/>
          </a:p>
        </p:txBody>
      </p:sp>
      <p:sp>
        <p:nvSpPr>
          <p:cNvPr id="6" name="círculo As seis áreas da etapa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As seis áreas da etap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96312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As seis áreas da etapa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O trilho combinado em cada área e o seu estado.</a:t>
            </a:r>
            <a:endParaRPr lang="en-US" sz="1700" dirty="0"/>
          </a:p>
        </p:txBody>
      </p:sp>
      <p:sp>
        <p:nvSpPr>
          <p:cNvPr id="9" name="círculo Validação da etapa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Validação da etap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20440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Validação da etapa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Com um trilho validado em cada área, pedes a validação da etapa ao Conselho de Guias.</a:t>
            </a:r>
            <a:endParaRPr lang="en-US" sz="1700" dirty="0"/>
          </a:p>
        </p:txBody>
      </p:sp>
      <p:sp>
        <p:nvSpPr>
          <p:cNvPr id="12" name="círculo Mapa do caminho"/>
          <p:cNvSpPr/>
          <p:nvPr/>
        </p:nvSpPr>
        <p:spPr>
          <a:xfrm>
            <a:off x="548640" y="4581144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3" name="ícone Mapa do caminh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183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544568"/>
            <a:ext cx="6172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Mapa do caminho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Início de Pista › Promessa › Conhecimento › Vontade › Construção.</a:t>
            </a:r>
            <a:endParaRPr lang="en-US" sz="1700" dirty="0"/>
          </a:p>
        </p:txBody>
      </p:sp>
      <p:sp>
        <p:nvSpPr>
          <p:cNvPr id="15" name="moldura O meu percurso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captura O meu percurso" descr="Captura do ecrã: O meu percurs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caminho da secção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506A"/>
                </a:solidFill>
              </a:rPr>
              <a:t>Um mapa com os marcos do caminho e quantos pioneiros estão em cada um.</a:t>
            </a:r>
            <a:endParaRPr lang="en-US" sz="1700" dirty="0"/>
          </a:p>
        </p:txBody>
      </p:sp>
      <p:sp>
        <p:nvSpPr>
          <p:cNvPr id="4" name="círculo Vês onde estás tu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5" name="ícone Vês onde estás 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060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43230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Vês onde estás tu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E, da tua equipa, onde está cada um.</a:t>
            </a:r>
            <a:endParaRPr lang="en-US" sz="1700" dirty="0"/>
          </a:p>
        </p:txBody>
      </p:sp>
      <p:sp>
        <p:nvSpPr>
          <p:cNvPr id="7" name="círculo Sem rankings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8" name="ícone Sem ranking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947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62102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Sem rankings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Não há pontuações nem comparações: cada um faz o seu caminho.</a:t>
            </a:r>
            <a:endParaRPr lang="en-US" sz="1700" dirty="0"/>
          </a:p>
        </p:txBody>
      </p:sp>
      <p:sp>
        <p:nvSpPr>
          <p:cNvPr id="10" name="moldura Caminho da secção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captura Caminho da secção" descr="Captura do ecrã: Caminho da sec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Consultar todos os trilhos</a:t>
            </a:r>
            <a:endParaRPr lang="en-US" sz="3200" dirty="0"/>
          </a:p>
        </p:txBody>
      </p:sp>
      <p:sp>
        <p:nvSpPr>
          <p:cNvPr id="3" name="círculo Árvore completa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Árvore complet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Árvore completa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6 áreas › 18 trilhos › 38 objetivos, tal como no Manual.</a:t>
            </a:r>
            <a:endParaRPr lang="en-US" sz="1700" dirty="0"/>
          </a:p>
        </p:txBody>
      </p:sp>
      <p:sp>
        <p:nvSpPr>
          <p:cNvPr id="6" name="círculo Pesquisa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Pesquis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66090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Pesquisa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Procura um trilho, um objetivo ou uma palavra-chave.</a:t>
            </a:r>
            <a:endParaRPr lang="en-US" sz="1700" dirty="0"/>
          </a:p>
        </p:txBody>
      </p:sp>
      <p:sp>
        <p:nvSpPr>
          <p:cNvPr id="9" name="círculo Exemplos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Exemplo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84962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Exemplos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Ideias de oportunidades educativas para cada trilho.</a:t>
            </a:r>
            <a:endParaRPr lang="en-US" sz="1700" dirty="0"/>
          </a:p>
        </p:txBody>
      </p:sp>
      <p:sp>
        <p:nvSpPr>
          <p:cNvPr id="12" name="moldura Trilhos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captura Trilhos" descr="Captura do ecrã: Trilh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Vivências: o teu diário</a:t>
            </a:r>
            <a:endParaRPr lang="en-US" sz="3200" dirty="0"/>
          </a:p>
        </p:txBody>
      </p:sp>
      <p:sp>
        <p:nvSpPr>
          <p:cNvPr id="3" name="círculo Regista o que viveste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4" name="ícone Regista o que vives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7218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Regista o que viveste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Atividades, momentos, reflexões — no escutismo, em casa ou na escola.</a:t>
            </a:r>
            <a:endParaRPr lang="en-US" sz="1700" dirty="0"/>
          </a:p>
        </p:txBody>
      </p:sp>
      <p:sp>
        <p:nvSpPr>
          <p:cNvPr id="6" name="círculo Só tu vês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7" name="ícone Só tu vê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66090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Só tu vês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É um diário pessoal para te ajudar a preparar os pedidos.</a:t>
            </a:r>
            <a:endParaRPr lang="en-US" sz="1700" dirty="0"/>
          </a:p>
        </p:txBody>
      </p:sp>
      <p:sp>
        <p:nvSpPr>
          <p:cNvPr id="9" name="círculo Opcional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1D4FA3"/>
          </a:solidFill>
          <a:ln w="12700">
            <a:solidFill>
              <a:srgbClr val="1D4FA3"/>
            </a:solidFill>
            <a:prstDash val="solid"/>
          </a:ln>
        </p:spPr>
      </p:sp>
      <p:pic>
        <p:nvPicPr>
          <p:cNvPr id="10" name="ícone Opciona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849624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Opcional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4506A"/>
                </a:solidFill>
              </a:rPr>
              <a:t>Não é preciso registar vivências para pedir a validação.</a:t>
            </a:r>
            <a:endParaRPr lang="en-US" sz="1700" dirty="0"/>
          </a:p>
        </p:txBody>
      </p:sp>
      <p:sp>
        <p:nvSpPr>
          <p:cNvPr id="12" name="moldura Vivências"/>
          <p:cNvSpPr/>
          <p:nvPr/>
        </p:nvSpPr>
        <p:spPr>
          <a:xfrm>
            <a:off x="8513064" y="420624"/>
            <a:ext cx="3040177" cy="6016752"/>
          </a:xfrm>
          <a:prstGeom prst="roundRect">
            <a:avLst>
              <a:gd name="adj" fmla="val 66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captura Vivências" descr="Captura do ecrã: Vivênci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502920"/>
            <a:ext cx="2875585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Notificações e perfil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Ativa as notificações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44506A"/>
                </a:solidFill>
              </a:rPr>
              <a:t>Perfil › Notificações no telemóvel › Ativar. No iPhone, abre a app pelo ícone do ecrã principal.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sino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44506A"/>
                </a:solidFill>
              </a:rPr>
              <a:t>Todas as notificações ficam também no sino, no topo da app.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Perfil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44506A"/>
                </a:solidFill>
              </a:rPr>
              <a:t>Nome, totem e fotografia (opcional, só vista pela tua equipa e dirigentes).</a:t>
            </a:r>
            <a:endParaRPr lang="en-US" sz="1800" dirty="0"/>
          </a:p>
        </p:txBody>
      </p:sp>
      <p:sp>
        <p:nvSpPr>
          <p:cNvPr id="4" name="moldura Notificações"/>
          <p:cNvSpPr/>
          <p:nvPr/>
        </p:nvSpPr>
        <p:spPr>
          <a:xfrm>
            <a:off x="6592824" y="1335024"/>
            <a:ext cx="2590866" cy="5102352"/>
          </a:xfrm>
          <a:prstGeom prst="roundRect">
            <a:avLst>
              <a:gd name="adj" fmla="val 776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captura Notificações" descr="Captura do ecrã: Notificaç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2426274" cy="4937760"/>
          </a:xfrm>
          <a:prstGeom prst="rect">
            <a:avLst/>
          </a:prstGeom>
        </p:spPr>
      </p:pic>
      <p:sp>
        <p:nvSpPr>
          <p:cNvPr id="6" name="moldura Perfil"/>
          <p:cNvSpPr/>
          <p:nvPr/>
        </p:nvSpPr>
        <p:spPr>
          <a:xfrm>
            <a:off x="9290304" y="1335024"/>
            <a:ext cx="2590866" cy="5102352"/>
          </a:xfrm>
          <a:prstGeom prst="roundRect">
            <a:avLst>
              <a:gd name="adj" fmla="val 776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captura Perfil" descr="Captura do ecrã: Perf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417320"/>
            <a:ext cx="2426274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Em resumo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E"/>
                </a:solidFill>
              </a:rPr>
              <a:t>Escolhe a área › abre o trilho › trabalhar ou fechar › acompanha nos teus pedidos</a:t>
            </a:r>
            <a:endParaRPr lang="en-US" sz="2000" dirty="0"/>
          </a:p>
        </p:txBody>
      </p:sp>
      <p:sp>
        <p:nvSpPr>
          <p:cNvPr id="4" name="passo Área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5" name="ícone passo Áre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5760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Área</a:t>
            </a:r>
            <a:endParaRPr lang="en-US" sz="1500" dirty="0"/>
          </a:p>
        </p:txBody>
      </p:sp>
      <p:sp>
        <p:nvSpPr>
          <p:cNvPr id="7" name="passo Trilho"/>
          <p:cNvSpPr/>
          <p:nvPr/>
        </p:nvSpPr>
        <p:spPr>
          <a:xfrm>
            <a:off x="2880360" y="48463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8" name="ícone passo Trilh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50474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14600" y="5760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Trilho</a:t>
            </a:r>
            <a:endParaRPr lang="en-US" sz="1500" dirty="0"/>
          </a:p>
        </p:txBody>
      </p:sp>
      <p:sp>
        <p:nvSpPr>
          <p:cNvPr id="10" name="passo Trabalhar"/>
          <p:cNvSpPr/>
          <p:nvPr/>
        </p:nvSpPr>
        <p:spPr>
          <a:xfrm>
            <a:off x="5029200" y="48463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1" name="ícone passo Trabalh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5047488"/>
            <a:ext cx="420624" cy="4206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63440" y="5760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Trabalhar</a:t>
            </a:r>
            <a:endParaRPr lang="en-US" sz="1500" dirty="0"/>
          </a:p>
        </p:txBody>
      </p:sp>
      <p:sp>
        <p:nvSpPr>
          <p:cNvPr id="13" name="passo Fechar"/>
          <p:cNvSpPr/>
          <p:nvPr/>
        </p:nvSpPr>
        <p:spPr>
          <a:xfrm>
            <a:off x="7178040" y="48463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4" name="ícone passo Fech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5047488"/>
            <a:ext cx="420624" cy="4206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12280" y="5760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Fechar</a:t>
            </a:r>
            <a:endParaRPr lang="en-US" sz="1500" dirty="0"/>
          </a:p>
        </p:txBody>
      </p:sp>
      <p:sp>
        <p:nvSpPr>
          <p:cNvPr id="16" name="passo Resposta"/>
          <p:cNvSpPr/>
          <p:nvPr/>
        </p:nvSpPr>
        <p:spPr>
          <a:xfrm>
            <a:off x="9326880" y="48463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7" name="ícone passo Respos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5047488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961120" y="5760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Resposta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Dúvidas? Fala com o teu guia ou com a Equipa de Animação.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oneiros">
  <a:themeElements>
    <a:clrScheme name="Pioneiros">
      <a:dk1>
        <a:srgbClr val="14213D"/>
      </a:dk1>
      <a:lt1>
        <a:srgbClr val="FFFFFF"/>
      </a:lt1>
      <a:dk2>
        <a:srgbClr val="1D4FA3"/>
      </a:dk2>
      <a:lt2>
        <a:srgbClr val="EEF3FA"/>
      </a:lt2>
      <a:accent1>
        <a:srgbClr val="1D4FA3"/>
      </a:accent1>
      <a:accent2>
        <a:srgbClr val="F2A900"/>
      </a:accent2>
      <a:accent3>
        <a:srgbClr val="2E8B57"/>
      </a:accent3>
      <a:accent4>
        <a:srgbClr val="C2410C"/>
      </a:accent4>
      <a:accent5>
        <a:srgbClr val="6D28D9"/>
      </a:accent5>
      <a:accent6>
        <a:srgbClr val="0E7490"/>
      </a:accent6>
      <a:hlink>
        <a:srgbClr val="1D4FA3"/>
      </a:hlink>
      <a:folHlink>
        <a:srgbClr val="6D28D9"/>
      </a:folHlink>
    </a:clrScheme>
    <a:fontScheme name="Pioneir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Pioneiros — a nossa app de progresso</dc:title>
  <dc:subject>PptxGenJS Presentation</dc:subject>
  <dc:creator>Equipa de Animação</dc:creator>
  <cp:lastModifiedBy>Equipa de Animação</cp:lastModifiedBy>
  <cp:revision>1</cp:revision>
  <dcterms:created xsi:type="dcterms:W3CDTF">2026-10-17T11:54:28Z</dcterms:created>
  <dcterms:modified xsi:type="dcterms:W3CDTF">2026-10-17T11:54:28Z</dcterms:modified>
</cp:coreProperties>
</file>